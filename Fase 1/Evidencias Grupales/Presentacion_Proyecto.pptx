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1309350" cx="20104100"/>
  <p:notesSz cx="20104100" cy="11309350"/>
  <p:embeddedFontLst>
    <p:embeddedFont>
      <p:font typeface="Arial Narrow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q4/7vFs2n6P7kN0B6QwFPqhE6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69BFC7-164E-4123-A3A3-254015DF707C}">
  <a:tblStyle styleId="{C969BFC7-164E-4123-A3A3-254015DF70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E69C14F-57D4-4832-9149-102BA9918F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.fntdata"/><Relationship Id="rId11" Type="http://schemas.openxmlformats.org/officeDocument/2006/relationships/slide" Target="slides/slide5.xml"/><Relationship Id="rId22" Type="http://schemas.openxmlformats.org/officeDocument/2006/relationships/font" Target="fonts/ArialNarrow-boldItalic.fntdata"/><Relationship Id="rId10" Type="http://schemas.openxmlformats.org/officeDocument/2006/relationships/slide" Target="slides/slide4.xml"/><Relationship Id="rId21" Type="http://schemas.openxmlformats.org/officeDocument/2006/relationships/font" Target="fonts/ArialNarrow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rialNarrow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554a24f51_0_547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e554a24f51_0_547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b1942838_0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9b1942838_0_0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9b1942838_1_72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f9b1942838_1_72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b1942838_0_3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9b1942838_0_33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9b1942838_1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f9b1942838_1_0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b1942838_0_58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f9b1942838_0_58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b1942838_1_7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f9b1942838_1_7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b1942838_0_5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f9b1942838_0_54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9b1942838_1_6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f9b1942838_1_61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9c6830244_0_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f9c6830244_0_0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9c6830244_0_8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f9c6830244_0_8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255"/>
            <a:ext cx="20104100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1"/>
          <p:cNvSpPr/>
          <p:nvPr/>
        </p:nvSpPr>
        <p:spPr>
          <a:xfrm>
            <a:off x="5092767" y="7368222"/>
            <a:ext cx="10694670" cy="53340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5092767" y="6322551"/>
            <a:ext cx="10694670" cy="1045671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5138402" y="6401309"/>
            <a:ext cx="106490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2" type="body"/>
          </p:nvPr>
        </p:nvSpPr>
        <p:spPr>
          <a:xfrm>
            <a:off x="4718050" y="5246439"/>
            <a:ext cx="11429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3" type="body"/>
          </p:nvPr>
        </p:nvSpPr>
        <p:spPr>
          <a:xfrm>
            <a:off x="5092767" y="7676832"/>
            <a:ext cx="1069498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9667" y="8484983"/>
            <a:ext cx="6220794" cy="204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0952" y="1028267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/>
          <p:nvPr/>
        </p:nvSpPr>
        <p:spPr>
          <a:xfrm>
            <a:off x="1" y="828729"/>
            <a:ext cx="4946650" cy="1168346"/>
          </a:xfrm>
          <a:prstGeom prst="rect">
            <a:avLst/>
          </a:prstGeom>
          <a:solidFill>
            <a:srgbClr val="317D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2"/>
          <p:cNvSpPr/>
          <p:nvPr/>
        </p:nvSpPr>
        <p:spPr>
          <a:xfrm>
            <a:off x="4998572" y="828729"/>
            <a:ext cx="152400" cy="1168346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574040" y="1258411"/>
            <a:ext cx="4343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574675" y="2911475"/>
            <a:ext cx="43434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2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" name="Google Shape;27;p12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28" name="Google Shape;28;p12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29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" name="Google Shape;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20104101" cy="740727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6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6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oogle Shape;35;p16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36" name="Google Shape;36;p16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" name="Google Shape;3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" name="Google Shape;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6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" name="Google Shape;40;p16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/>
          <p:nvPr/>
        </p:nvSpPr>
        <p:spPr>
          <a:xfrm>
            <a:off x="14603006" y="1768475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3"/>
          <p:cNvSpPr/>
          <p:nvPr/>
        </p:nvSpPr>
        <p:spPr>
          <a:xfrm>
            <a:off x="10415337" y="1768476"/>
            <a:ext cx="3392804" cy="7616568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3"/>
          <p:cNvSpPr/>
          <p:nvPr/>
        </p:nvSpPr>
        <p:spPr>
          <a:xfrm>
            <a:off x="6347214" y="1813303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2235659" y="1820288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317D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243205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243205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3" type="body"/>
          </p:nvPr>
        </p:nvSpPr>
        <p:spPr>
          <a:xfrm>
            <a:off x="252090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4" type="body"/>
          </p:nvPr>
        </p:nvSpPr>
        <p:spPr>
          <a:xfrm>
            <a:off x="6569873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5" type="body"/>
          </p:nvPr>
        </p:nvSpPr>
        <p:spPr>
          <a:xfrm>
            <a:off x="6569873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6" type="body"/>
          </p:nvPr>
        </p:nvSpPr>
        <p:spPr>
          <a:xfrm>
            <a:off x="6658730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7" type="body"/>
          </p:nvPr>
        </p:nvSpPr>
        <p:spPr>
          <a:xfrm>
            <a:off x="1064273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8" type="body"/>
          </p:nvPr>
        </p:nvSpPr>
        <p:spPr>
          <a:xfrm>
            <a:off x="1064273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9" type="body"/>
          </p:nvPr>
        </p:nvSpPr>
        <p:spPr>
          <a:xfrm>
            <a:off x="1073158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3" type="body"/>
          </p:nvPr>
        </p:nvSpPr>
        <p:spPr>
          <a:xfrm>
            <a:off x="14844104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4" type="body"/>
          </p:nvPr>
        </p:nvSpPr>
        <p:spPr>
          <a:xfrm>
            <a:off x="14844104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5" type="body"/>
          </p:nvPr>
        </p:nvSpPr>
        <p:spPr>
          <a:xfrm>
            <a:off x="14932961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/>
          <p:nvPr/>
        </p:nvSpPr>
        <p:spPr>
          <a:xfrm>
            <a:off x="3579241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7667696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5995650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1728450" y="571988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66" name="Google Shape;66;p13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7" name="Google Shape;67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100" cy="737825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14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74" name="Google Shape;74;p14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8" name="Google Shape;78;p14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2196"/>
            <a:ext cx="20104100" cy="752051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85" name="Google Shape;85;p15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6" name="Google Shape;8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9" name="Google Shape;89;p15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22225"/>
            <a:ext cx="20112123" cy="75346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16958625" y="10426287"/>
            <a:ext cx="1618615" cy="525145"/>
          </a:xfrm>
          <a:custGeom>
            <a:rect b="b" l="l" r="r" t="t"/>
            <a:pathLst>
              <a:path extrusionOk="0" h="525145" w="1618615">
                <a:moveTo>
                  <a:pt x="453097" y="247865"/>
                </a:moveTo>
                <a:lnTo>
                  <a:pt x="449186" y="196367"/>
                </a:lnTo>
                <a:lnTo>
                  <a:pt x="437921" y="151307"/>
                </a:lnTo>
                <a:lnTo>
                  <a:pt x="419925" y="112522"/>
                </a:lnTo>
                <a:lnTo>
                  <a:pt x="395884" y="79870"/>
                </a:lnTo>
                <a:lnTo>
                  <a:pt x="366445" y="53213"/>
                </a:lnTo>
                <a:lnTo>
                  <a:pt x="330708" y="31546"/>
                </a:lnTo>
                <a:lnTo>
                  <a:pt x="330708" y="251650"/>
                </a:lnTo>
                <a:lnTo>
                  <a:pt x="325094" y="307492"/>
                </a:lnTo>
                <a:lnTo>
                  <a:pt x="308851" y="352729"/>
                </a:lnTo>
                <a:lnTo>
                  <a:pt x="282892" y="387540"/>
                </a:lnTo>
                <a:lnTo>
                  <a:pt x="248132" y="412089"/>
                </a:lnTo>
                <a:lnTo>
                  <a:pt x="205486" y="426542"/>
                </a:lnTo>
                <a:lnTo>
                  <a:pt x="155841" y="431076"/>
                </a:lnTo>
                <a:lnTo>
                  <a:pt x="145161" y="431038"/>
                </a:lnTo>
                <a:lnTo>
                  <a:pt x="134264" y="430784"/>
                </a:lnTo>
                <a:lnTo>
                  <a:pt x="124079" y="430098"/>
                </a:lnTo>
                <a:lnTo>
                  <a:pt x="115519" y="428764"/>
                </a:lnTo>
                <a:lnTo>
                  <a:pt x="115519" y="93497"/>
                </a:lnTo>
                <a:lnTo>
                  <a:pt x="124383" y="91821"/>
                </a:lnTo>
                <a:lnTo>
                  <a:pt x="136080" y="90347"/>
                </a:lnTo>
                <a:lnTo>
                  <a:pt x="150622" y="89319"/>
                </a:lnTo>
                <a:lnTo>
                  <a:pt x="168008" y="88925"/>
                </a:lnTo>
                <a:lnTo>
                  <a:pt x="214909" y="93319"/>
                </a:lnTo>
                <a:lnTo>
                  <a:pt x="254800" y="106616"/>
                </a:lnTo>
                <a:lnTo>
                  <a:pt x="286994" y="128943"/>
                </a:lnTo>
                <a:lnTo>
                  <a:pt x="310832" y="160464"/>
                </a:lnTo>
                <a:lnTo>
                  <a:pt x="325628" y="201320"/>
                </a:lnTo>
                <a:lnTo>
                  <a:pt x="330708" y="251650"/>
                </a:lnTo>
                <a:lnTo>
                  <a:pt x="330708" y="31546"/>
                </a:lnTo>
                <a:lnTo>
                  <a:pt x="326796" y="29171"/>
                </a:lnTo>
                <a:lnTo>
                  <a:pt x="279666" y="12636"/>
                </a:lnTo>
                <a:lnTo>
                  <a:pt x="223278" y="3073"/>
                </a:lnTo>
                <a:lnTo>
                  <a:pt x="155841" y="0"/>
                </a:lnTo>
                <a:lnTo>
                  <a:pt x="113093" y="711"/>
                </a:lnTo>
                <a:lnTo>
                  <a:pt x="72212" y="2857"/>
                </a:lnTo>
                <a:lnTo>
                  <a:pt x="34175" y="6413"/>
                </a:lnTo>
                <a:lnTo>
                  <a:pt x="0" y="11417"/>
                </a:lnTo>
                <a:lnTo>
                  <a:pt x="0" y="513930"/>
                </a:lnTo>
                <a:lnTo>
                  <a:pt x="23964" y="516724"/>
                </a:lnTo>
                <a:lnTo>
                  <a:pt x="53784" y="519150"/>
                </a:lnTo>
                <a:lnTo>
                  <a:pt x="89585" y="520877"/>
                </a:lnTo>
                <a:lnTo>
                  <a:pt x="131495" y="521525"/>
                </a:lnTo>
                <a:lnTo>
                  <a:pt x="189534" y="518960"/>
                </a:lnTo>
                <a:lnTo>
                  <a:pt x="242811" y="511162"/>
                </a:lnTo>
                <a:lnTo>
                  <a:pt x="290804" y="498043"/>
                </a:lnTo>
                <a:lnTo>
                  <a:pt x="332955" y="479501"/>
                </a:lnTo>
                <a:lnTo>
                  <a:pt x="368719" y="455409"/>
                </a:lnTo>
                <a:lnTo>
                  <a:pt x="396163" y="427177"/>
                </a:lnTo>
                <a:lnTo>
                  <a:pt x="419430" y="392518"/>
                </a:lnTo>
                <a:lnTo>
                  <a:pt x="437400" y="351231"/>
                </a:lnTo>
                <a:lnTo>
                  <a:pt x="448983" y="303085"/>
                </a:lnTo>
                <a:lnTo>
                  <a:pt x="453097" y="247865"/>
                </a:lnTo>
                <a:close/>
              </a:path>
              <a:path extrusionOk="0" h="525145" w="1618615">
                <a:moveTo>
                  <a:pt x="849947" y="516191"/>
                </a:moveTo>
                <a:lnTo>
                  <a:pt x="848817" y="491236"/>
                </a:lnTo>
                <a:lnTo>
                  <a:pt x="847839" y="463080"/>
                </a:lnTo>
                <a:lnTo>
                  <a:pt x="847140" y="431634"/>
                </a:lnTo>
                <a:lnTo>
                  <a:pt x="846874" y="396836"/>
                </a:lnTo>
                <a:lnTo>
                  <a:pt x="846874" y="144449"/>
                </a:lnTo>
                <a:lnTo>
                  <a:pt x="731316" y="144449"/>
                </a:lnTo>
                <a:lnTo>
                  <a:pt x="731316" y="365671"/>
                </a:lnTo>
                <a:lnTo>
                  <a:pt x="731037" y="372808"/>
                </a:lnTo>
                <a:lnTo>
                  <a:pt x="707301" y="417766"/>
                </a:lnTo>
                <a:lnTo>
                  <a:pt x="668985" y="431076"/>
                </a:lnTo>
                <a:lnTo>
                  <a:pt x="642531" y="425119"/>
                </a:lnTo>
                <a:lnTo>
                  <a:pt x="624332" y="407974"/>
                </a:lnTo>
                <a:lnTo>
                  <a:pt x="613841" y="380707"/>
                </a:lnTo>
                <a:lnTo>
                  <a:pt x="610463" y="344398"/>
                </a:lnTo>
                <a:lnTo>
                  <a:pt x="610463" y="144449"/>
                </a:lnTo>
                <a:lnTo>
                  <a:pt x="494906" y="144449"/>
                </a:lnTo>
                <a:lnTo>
                  <a:pt x="494906" y="362623"/>
                </a:lnTo>
                <a:lnTo>
                  <a:pt x="501205" y="423557"/>
                </a:lnTo>
                <a:lnTo>
                  <a:pt x="519036" y="469226"/>
                </a:lnTo>
                <a:lnTo>
                  <a:pt x="546785" y="500634"/>
                </a:lnTo>
                <a:lnTo>
                  <a:pt x="582866" y="518756"/>
                </a:lnTo>
                <a:lnTo>
                  <a:pt x="625652" y="524573"/>
                </a:lnTo>
                <a:lnTo>
                  <a:pt x="670026" y="518274"/>
                </a:lnTo>
                <a:lnTo>
                  <a:pt x="703491" y="502716"/>
                </a:lnTo>
                <a:lnTo>
                  <a:pt x="727113" y="482879"/>
                </a:lnTo>
                <a:lnTo>
                  <a:pt x="741972" y="463753"/>
                </a:lnTo>
                <a:lnTo>
                  <a:pt x="744245" y="463753"/>
                </a:lnTo>
                <a:lnTo>
                  <a:pt x="749592" y="516191"/>
                </a:lnTo>
                <a:lnTo>
                  <a:pt x="849947" y="516191"/>
                </a:lnTo>
                <a:close/>
              </a:path>
              <a:path extrusionOk="0" h="525145" w="1618615">
                <a:moveTo>
                  <a:pt x="1277759" y="326885"/>
                </a:moveTo>
                <a:lnTo>
                  <a:pt x="1273225" y="280898"/>
                </a:lnTo>
                <a:lnTo>
                  <a:pt x="1260055" y="239864"/>
                </a:lnTo>
                <a:lnTo>
                  <a:pt x="1247533" y="218948"/>
                </a:lnTo>
                <a:lnTo>
                  <a:pt x="1238923" y="204558"/>
                </a:lnTo>
                <a:lnTo>
                  <a:pt x="1210513" y="175742"/>
                </a:lnTo>
                <a:lnTo>
                  <a:pt x="1175537" y="154216"/>
                </a:lnTo>
                <a:lnTo>
                  <a:pt x="1157643" y="148323"/>
                </a:lnTo>
                <a:lnTo>
                  <a:pt x="1157643" y="329958"/>
                </a:lnTo>
                <a:lnTo>
                  <a:pt x="1152537" y="375627"/>
                </a:lnTo>
                <a:lnTo>
                  <a:pt x="1137881" y="410908"/>
                </a:lnTo>
                <a:lnTo>
                  <a:pt x="1114679" y="433641"/>
                </a:lnTo>
                <a:lnTo>
                  <a:pt x="1083906" y="441693"/>
                </a:lnTo>
                <a:lnTo>
                  <a:pt x="1083157" y="441693"/>
                </a:lnTo>
                <a:lnTo>
                  <a:pt x="1050861" y="433222"/>
                </a:lnTo>
                <a:lnTo>
                  <a:pt x="1027264" y="409867"/>
                </a:lnTo>
                <a:lnTo>
                  <a:pt x="1012799" y="374675"/>
                </a:lnTo>
                <a:lnTo>
                  <a:pt x="1007884" y="330708"/>
                </a:lnTo>
                <a:lnTo>
                  <a:pt x="1012063" y="289839"/>
                </a:lnTo>
                <a:lnTo>
                  <a:pt x="1025372" y="254025"/>
                </a:lnTo>
                <a:lnTo>
                  <a:pt x="1048931" y="228612"/>
                </a:lnTo>
                <a:lnTo>
                  <a:pt x="1083906" y="218948"/>
                </a:lnTo>
                <a:lnTo>
                  <a:pt x="1117574" y="228612"/>
                </a:lnTo>
                <a:lnTo>
                  <a:pt x="1140447" y="253936"/>
                </a:lnTo>
                <a:lnTo>
                  <a:pt x="1153502" y="289521"/>
                </a:lnTo>
                <a:lnTo>
                  <a:pt x="1157643" y="329958"/>
                </a:lnTo>
                <a:lnTo>
                  <a:pt x="1157643" y="148323"/>
                </a:lnTo>
                <a:lnTo>
                  <a:pt x="1134618" y="140728"/>
                </a:lnTo>
                <a:lnTo>
                  <a:pt x="1088466" y="136067"/>
                </a:lnTo>
                <a:lnTo>
                  <a:pt x="1039609" y="140665"/>
                </a:lnTo>
                <a:lnTo>
                  <a:pt x="996442" y="154089"/>
                </a:lnTo>
                <a:lnTo>
                  <a:pt x="959637" y="175755"/>
                </a:lnTo>
                <a:lnTo>
                  <a:pt x="929855" y="205041"/>
                </a:lnTo>
                <a:lnTo>
                  <a:pt x="907770" y="241401"/>
                </a:lnTo>
                <a:lnTo>
                  <a:pt x="894016" y="284226"/>
                </a:lnTo>
                <a:lnTo>
                  <a:pt x="889292" y="332955"/>
                </a:lnTo>
                <a:lnTo>
                  <a:pt x="894245" y="381393"/>
                </a:lnTo>
                <a:lnTo>
                  <a:pt x="908405" y="423481"/>
                </a:lnTo>
                <a:lnTo>
                  <a:pt x="930757" y="458812"/>
                </a:lnTo>
                <a:lnTo>
                  <a:pt x="960272" y="486994"/>
                </a:lnTo>
                <a:lnTo>
                  <a:pt x="995946" y="507606"/>
                </a:lnTo>
                <a:lnTo>
                  <a:pt x="1036726" y="520268"/>
                </a:lnTo>
                <a:lnTo>
                  <a:pt x="1081608" y="524573"/>
                </a:lnTo>
                <a:lnTo>
                  <a:pt x="1082382" y="524573"/>
                </a:lnTo>
                <a:lnTo>
                  <a:pt x="1124318" y="520725"/>
                </a:lnTo>
                <a:lnTo>
                  <a:pt x="1164336" y="509054"/>
                </a:lnTo>
                <a:lnTo>
                  <a:pt x="1200772" y="489381"/>
                </a:lnTo>
                <a:lnTo>
                  <a:pt x="1231976" y="461518"/>
                </a:lnTo>
                <a:lnTo>
                  <a:pt x="1245285" y="441693"/>
                </a:lnTo>
                <a:lnTo>
                  <a:pt x="1256322" y="425259"/>
                </a:lnTo>
                <a:lnTo>
                  <a:pt x="1272120" y="380453"/>
                </a:lnTo>
                <a:lnTo>
                  <a:pt x="1277759" y="326885"/>
                </a:lnTo>
                <a:close/>
              </a:path>
              <a:path extrusionOk="0" h="525145" w="1618615">
                <a:moveTo>
                  <a:pt x="1618411" y="150533"/>
                </a:moveTo>
                <a:lnTo>
                  <a:pt x="1598650" y="144424"/>
                </a:lnTo>
                <a:lnTo>
                  <a:pt x="1576603" y="139865"/>
                </a:lnTo>
                <a:lnTo>
                  <a:pt x="1553413" y="137033"/>
                </a:lnTo>
                <a:lnTo>
                  <a:pt x="1530223" y="136055"/>
                </a:lnTo>
                <a:lnTo>
                  <a:pt x="1474876" y="141300"/>
                </a:lnTo>
                <a:lnTo>
                  <a:pt x="1427530" y="156235"/>
                </a:lnTo>
                <a:lnTo>
                  <a:pt x="1388376" y="179628"/>
                </a:lnTo>
                <a:lnTo>
                  <a:pt x="1357591" y="210299"/>
                </a:lnTo>
                <a:lnTo>
                  <a:pt x="1335366" y="247015"/>
                </a:lnTo>
                <a:lnTo>
                  <a:pt x="1321904" y="288569"/>
                </a:lnTo>
                <a:lnTo>
                  <a:pt x="1317371" y="333743"/>
                </a:lnTo>
                <a:lnTo>
                  <a:pt x="1321968" y="381190"/>
                </a:lnTo>
                <a:lnTo>
                  <a:pt x="1335392" y="422783"/>
                </a:lnTo>
                <a:lnTo>
                  <a:pt x="1357045" y="458012"/>
                </a:lnTo>
                <a:lnTo>
                  <a:pt x="1386344" y="486346"/>
                </a:lnTo>
                <a:lnTo>
                  <a:pt x="1422704" y="507225"/>
                </a:lnTo>
                <a:lnTo>
                  <a:pt x="1465541" y="520153"/>
                </a:lnTo>
                <a:lnTo>
                  <a:pt x="1514259" y="524573"/>
                </a:lnTo>
                <a:lnTo>
                  <a:pt x="1546148" y="523240"/>
                </a:lnTo>
                <a:lnTo>
                  <a:pt x="1599057" y="514007"/>
                </a:lnTo>
                <a:lnTo>
                  <a:pt x="1603971" y="421932"/>
                </a:lnTo>
                <a:lnTo>
                  <a:pt x="1590116" y="427050"/>
                </a:lnTo>
                <a:lnTo>
                  <a:pt x="1574609" y="430872"/>
                </a:lnTo>
                <a:lnTo>
                  <a:pt x="1557248" y="433273"/>
                </a:lnTo>
                <a:lnTo>
                  <a:pt x="1537817" y="434098"/>
                </a:lnTo>
                <a:lnTo>
                  <a:pt x="1498168" y="427329"/>
                </a:lnTo>
                <a:lnTo>
                  <a:pt x="1465795" y="407301"/>
                </a:lnTo>
                <a:lnTo>
                  <a:pt x="1443951" y="374446"/>
                </a:lnTo>
                <a:lnTo>
                  <a:pt x="1435938" y="329196"/>
                </a:lnTo>
                <a:lnTo>
                  <a:pt x="1442631" y="287261"/>
                </a:lnTo>
                <a:lnTo>
                  <a:pt x="1462659" y="254304"/>
                </a:lnTo>
                <a:lnTo>
                  <a:pt x="1494218" y="232752"/>
                </a:lnTo>
                <a:lnTo>
                  <a:pt x="1535557" y="225031"/>
                </a:lnTo>
                <a:lnTo>
                  <a:pt x="1556562" y="225958"/>
                </a:lnTo>
                <a:lnTo>
                  <a:pt x="1574152" y="228447"/>
                </a:lnTo>
                <a:lnTo>
                  <a:pt x="1588592" y="232092"/>
                </a:lnTo>
                <a:lnTo>
                  <a:pt x="1600174" y="236435"/>
                </a:lnTo>
                <a:lnTo>
                  <a:pt x="1618411" y="150533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8689266" y="10470436"/>
            <a:ext cx="388620" cy="482600"/>
          </a:xfrm>
          <a:custGeom>
            <a:rect b="b" l="l" r="r" t="t"/>
            <a:pathLst>
              <a:path extrusionOk="0" h="482600" w="388619">
                <a:moveTo>
                  <a:pt x="388176" y="0"/>
                </a:moveTo>
                <a:lnTo>
                  <a:pt x="281090" y="0"/>
                </a:lnTo>
                <a:lnTo>
                  <a:pt x="281090" y="273331"/>
                </a:lnTo>
                <a:lnTo>
                  <a:pt x="275370" y="327965"/>
                </a:lnTo>
                <a:lnTo>
                  <a:pt x="258558" y="366414"/>
                </a:lnTo>
                <a:lnTo>
                  <a:pt x="231178" y="389143"/>
                </a:lnTo>
                <a:lnTo>
                  <a:pt x="193753" y="396616"/>
                </a:lnTo>
                <a:lnTo>
                  <a:pt x="157139" y="388845"/>
                </a:lnTo>
                <a:lnTo>
                  <a:pt x="130175" y="365621"/>
                </a:lnTo>
                <a:lnTo>
                  <a:pt x="113516" y="327072"/>
                </a:lnTo>
                <a:lnTo>
                  <a:pt x="107818" y="273331"/>
                </a:lnTo>
                <a:lnTo>
                  <a:pt x="107818" y="0"/>
                </a:lnTo>
                <a:lnTo>
                  <a:pt x="0" y="0"/>
                </a:lnTo>
                <a:lnTo>
                  <a:pt x="0" y="264892"/>
                </a:lnTo>
                <a:lnTo>
                  <a:pt x="4253" y="324651"/>
                </a:lnTo>
                <a:lnTo>
                  <a:pt x="16765" y="374300"/>
                </a:lnTo>
                <a:lnTo>
                  <a:pt x="37165" y="414172"/>
                </a:lnTo>
                <a:lnTo>
                  <a:pt x="65082" y="444602"/>
                </a:lnTo>
                <a:lnTo>
                  <a:pt x="100145" y="465925"/>
                </a:lnTo>
                <a:lnTo>
                  <a:pt x="141983" y="478473"/>
                </a:lnTo>
                <a:lnTo>
                  <a:pt x="190224" y="482582"/>
                </a:lnTo>
                <a:lnTo>
                  <a:pt x="240229" y="478290"/>
                </a:lnTo>
                <a:lnTo>
                  <a:pt x="283689" y="465335"/>
                </a:lnTo>
                <a:lnTo>
                  <a:pt x="320188" y="443592"/>
                </a:lnTo>
                <a:lnTo>
                  <a:pt x="349304" y="412939"/>
                </a:lnTo>
                <a:lnTo>
                  <a:pt x="370620" y="373254"/>
                </a:lnTo>
                <a:lnTo>
                  <a:pt x="383717" y="324414"/>
                </a:lnTo>
                <a:lnTo>
                  <a:pt x="388176" y="266295"/>
                </a:lnTo>
                <a:lnTo>
                  <a:pt x="38817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7"/>
          <p:cNvGrpSpPr/>
          <p:nvPr/>
        </p:nvGrpSpPr>
        <p:grpSpPr>
          <a:xfrm>
            <a:off x="19131280" y="10355374"/>
            <a:ext cx="445703" cy="598161"/>
            <a:chOff x="18406074" y="10234089"/>
            <a:chExt cx="445703" cy="598161"/>
          </a:xfrm>
        </p:grpSpPr>
        <p:sp>
          <p:nvSpPr>
            <p:cNvPr id="96" name="Google Shape;96;p17"/>
            <p:cNvSpPr/>
            <p:nvPr/>
          </p:nvSpPr>
          <p:spPr>
            <a:xfrm>
              <a:off x="18406074" y="10341395"/>
              <a:ext cx="376555" cy="490855"/>
            </a:xfrm>
            <a:custGeom>
              <a:rect b="b" l="l" r="r" t="t"/>
              <a:pathLst>
                <a:path extrusionOk="0" h="490854" w="376555">
                  <a:moveTo>
                    <a:pt x="259248" y="0"/>
                  </a:moveTo>
                  <a:lnTo>
                    <a:pt x="212510" y="3315"/>
                  </a:lnTo>
                  <a:lnTo>
                    <a:pt x="168577" y="13160"/>
                  </a:lnTo>
                  <a:lnTo>
                    <a:pt x="128168" y="29385"/>
                  </a:lnTo>
                  <a:lnTo>
                    <a:pt x="92002" y="51838"/>
                  </a:lnTo>
                  <a:lnTo>
                    <a:pt x="60799" y="80367"/>
                  </a:lnTo>
                  <a:lnTo>
                    <a:pt x="35278" y="114822"/>
                  </a:lnTo>
                  <a:lnTo>
                    <a:pt x="16158" y="155053"/>
                  </a:lnTo>
                  <a:lnTo>
                    <a:pt x="4159" y="200906"/>
                  </a:lnTo>
                  <a:lnTo>
                    <a:pt x="0" y="252233"/>
                  </a:lnTo>
                  <a:lnTo>
                    <a:pt x="3124" y="296015"/>
                  </a:lnTo>
                  <a:lnTo>
                    <a:pt x="12470" y="336820"/>
                  </a:lnTo>
                  <a:lnTo>
                    <a:pt x="27997" y="374067"/>
                  </a:lnTo>
                  <a:lnTo>
                    <a:pt x="49665" y="407177"/>
                  </a:lnTo>
                  <a:lnTo>
                    <a:pt x="77432" y="435568"/>
                  </a:lnTo>
                  <a:lnTo>
                    <a:pt x="111258" y="458660"/>
                  </a:lnTo>
                  <a:lnTo>
                    <a:pt x="151102" y="475874"/>
                  </a:lnTo>
                  <a:lnTo>
                    <a:pt x="196924" y="486627"/>
                  </a:lnTo>
                  <a:lnTo>
                    <a:pt x="248683" y="490341"/>
                  </a:lnTo>
                  <a:lnTo>
                    <a:pt x="289323" y="488424"/>
                  </a:lnTo>
                  <a:lnTo>
                    <a:pt x="323888" y="483469"/>
                  </a:lnTo>
                  <a:lnTo>
                    <a:pt x="351317" y="476664"/>
                  </a:lnTo>
                  <a:lnTo>
                    <a:pt x="370554" y="469200"/>
                  </a:lnTo>
                  <a:lnTo>
                    <a:pt x="354355" y="385380"/>
                  </a:lnTo>
                  <a:lnTo>
                    <a:pt x="336022" y="391357"/>
                  </a:lnTo>
                  <a:lnTo>
                    <a:pt x="313851" y="396278"/>
                  </a:lnTo>
                  <a:lnTo>
                    <a:pt x="289564" y="399616"/>
                  </a:lnTo>
                  <a:lnTo>
                    <a:pt x="264881" y="400846"/>
                  </a:lnTo>
                  <a:lnTo>
                    <a:pt x="212272" y="393858"/>
                  </a:lnTo>
                  <a:lnTo>
                    <a:pt x="169943" y="373685"/>
                  </a:lnTo>
                  <a:lnTo>
                    <a:pt x="138704" y="341508"/>
                  </a:lnTo>
                  <a:lnTo>
                    <a:pt x="119366" y="298511"/>
                  </a:lnTo>
                  <a:lnTo>
                    <a:pt x="112740" y="245877"/>
                  </a:lnTo>
                  <a:lnTo>
                    <a:pt x="120306" y="188964"/>
                  </a:lnTo>
                  <a:lnTo>
                    <a:pt x="141498" y="144930"/>
                  </a:lnTo>
                  <a:lnTo>
                    <a:pt x="174052" y="113642"/>
                  </a:lnTo>
                  <a:lnTo>
                    <a:pt x="215707" y="94967"/>
                  </a:lnTo>
                  <a:lnTo>
                    <a:pt x="264201" y="88772"/>
                  </a:lnTo>
                  <a:lnTo>
                    <a:pt x="291260" y="90238"/>
                  </a:lnTo>
                  <a:lnTo>
                    <a:pt x="315349" y="94150"/>
                  </a:lnTo>
                  <a:lnTo>
                    <a:pt x="336402" y="99775"/>
                  </a:lnTo>
                  <a:lnTo>
                    <a:pt x="354355" y="106384"/>
                  </a:lnTo>
                  <a:lnTo>
                    <a:pt x="376208" y="21161"/>
                  </a:lnTo>
                  <a:lnTo>
                    <a:pt x="357739" y="13689"/>
                  </a:lnTo>
                  <a:lnTo>
                    <a:pt x="331471" y="6878"/>
                  </a:lnTo>
                  <a:lnTo>
                    <a:pt x="298332" y="1917"/>
                  </a:lnTo>
                  <a:lnTo>
                    <a:pt x="259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" name="Google Shape;9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39823" y="10234089"/>
              <a:ext cx="111954" cy="1119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5995" y="10351817"/>
            <a:ext cx="4224383" cy="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0" name="Google Shape;100;p17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80393" y="2411901"/>
            <a:ext cx="395605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554a24f51_0_547"/>
          <p:cNvSpPr txBox="1"/>
          <p:nvPr>
            <p:ph idx="1" type="body"/>
          </p:nvPr>
        </p:nvSpPr>
        <p:spPr>
          <a:xfrm>
            <a:off x="5138402" y="6494556"/>
            <a:ext cx="1064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FFFFFF"/>
                </a:solidFill>
              </a:rPr>
              <a:t>“</a:t>
            </a:r>
            <a:r>
              <a:rPr lang="es-ES">
                <a:solidFill>
                  <a:srgbClr val="FFFFFF"/>
                </a:solidFill>
              </a:rPr>
              <a:t>Siempre Cerca”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7" name="Google Shape;107;g3e554a24f51_0_547"/>
          <p:cNvSpPr txBox="1"/>
          <p:nvPr>
            <p:ph idx="2" type="body"/>
          </p:nvPr>
        </p:nvSpPr>
        <p:spPr>
          <a:xfrm>
            <a:off x="4200460" y="4180771"/>
            <a:ext cx="12525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0"/>
              <a:t>Capstone</a:t>
            </a:r>
            <a:endParaRPr sz="12000"/>
          </a:p>
        </p:txBody>
      </p:sp>
      <p:sp>
        <p:nvSpPr>
          <p:cNvPr id="108" name="Google Shape;108;g3e554a24f51_0_547"/>
          <p:cNvSpPr txBox="1"/>
          <p:nvPr/>
        </p:nvSpPr>
        <p:spPr>
          <a:xfrm>
            <a:off x="1082950" y="7956600"/>
            <a:ext cx="65745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Docente: </a:t>
            </a:r>
            <a:r>
              <a:rPr lang="es-ES" sz="2100">
                <a:solidFill>
                  <a:schemeClr val="lt1"/>
                </a:solidFill>
              </a:rPr>
              <a:t>OSNELLYS EUGENIA ANDRADE DIAZ.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Integrantes: 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ES" sz="2100">
                <a:solidFill>
                  <a:schemeClr val="lt1"/>
                </a:solidFill>
              </a:rPr>
              <a:t>Héctor Patricio Cornejo Moya.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ES" sz="2100">
                <a:solidFill>
                  <a:schemeClr val="lt1"/>
                </a:solidFill>
              </a:rPr>
              <a:t>Paul Andrés Hidalgo Vásquez.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ES" sz="2100">
                <a:solidFill>
                  <a:schemeClr val="lt1"/>
                </a:solidFill>
              </a:rPr>
              <a:t>Melanie Scarlett Ortiz Fernández.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ES" sz="2100">
                <a:solidFill>
                  <a:schemeClr val="lt1"/>
                </a:solidFill>
              </a:rPr>
              <a:t>Angel Gabriel Rengifo Blanco.</a:t>
            </a:r>
            <a:endParaRPr sz="2100">
              <a:solidFill>
                <a:schemeClr val="lt1"/>
              </a:solidFill>
            </a:endParaRPr>
          </a:p>
          <a:p>
            <a:pPr indent="0" lvl="0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e554a24f51_0_547"/>
          <p:cNvSpPr txBox="1"/>
          <p:nvPr/>
        </p:nvSpPr>
        <p:spPr>
          <a:xfrm>
            <a:off x="14567575" y="8062675"/>
            <a:ext cx="44841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chemeClr val="lt1"/>
                </a:solidFill>
              </a:rPr>
              <a:t>Sección: 004D   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-ES" sz="2100">
                <a:solidFill>
                  <a:schemeClr val="lt1"/>
                </a:solidFill>
              </a:rPr>
              <a:t>Fecha: 1 de Septiembre,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b1942838_0_0"/>
          <p:cNvSpPr txBox="1"/>
          <p:nvPr/>
        </p:nvSpPr>
        <p:spPr>
          <a:xfrm>
            <a:off x="84051" y="1073550"/>
            <a:ext cx="489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4800"/>
              <a:t>Contexto</a:t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9b1942838_0_0"/>
          <p:cNvSpPr txBox="1"/>
          <p:nvPr/>
        </p:nvSpPr>
        <p:spPr>
          <a:xfrm>
            <a:off x="1704750" y="2970125"/>
            <a:ext cx="7287300" cy="6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50">
                <a:solidFill>
                  <a:srgbClr val="002060"/>
                </a:solidFill>
              </a:rPr>
              <a:t>Contexto organizacional:</a:t>
            </a:r>
            <a:br>
              <a:rPr lang="es-ES" sz="1850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es-ES" sz="1850">
                <a:solidFill>
                  <a:schemeClr val="dk1"/>
                </a:solidFill>
              </a:rPr>
              <a:t>En la actualidad, un gran porcentaje de adultos mayores vive solo o alejado de sus familias. Esta distancia geográfica y cotidiana genera una constante carga de preocupación y estrés en sus hijos, quienes temen que sus padres sufran emergencias médicas, caídas, desorientación o descompensaciones por condiciones crónicas como la diabetes sin que nadie pueda auxiliarlos a tiempo.</a:t>
            </a:r>
            <a:br>
              <a:rPr lang="es-ES" sz="1850">
                <a:solidFill>
                  <a:schemeClr val="dk1"/>
                </a:solidFill>
              </a:rPr>
            </a:br>
            <a:br>
              <a:rPr lang="es-ES" sz="1850">
                <a:solidFill>
                  <a:schemeClr val="dk1"/>
                </a:solidFill>
              </a:rPr>
            </a:br>
            <a:r>
              <a:rPr lang="es-ES" sz="1850">
                <a:solidFill>
                  <a:schemeClr val="dk1"/>
                </a:solidFill>
              </a:rPr>
              <a:t>Ante esta realidad, surge la necesidad de desarrollar una solución tecnológica, se propone la creación de una aplicación móvil que actúe como un puente tecnológico entre los usuarios y sus cuidadores, ofreciendo herramientas como localización en tiempo real, botón de emergencia, notificaciones automáticas y acceso a información médica esencial. </a:t>
            </a:r>
            <a:endParaRPr sz="1850"/>
          </a:p>
        </p:txBody>
      </p:sp>
      <p:sp>
        <p:nvSpPr>
          <p:cNvPr id="116" name="Google Shape;116;g3f9b1942838_0_0"/>
          <p:cNvSpPr txBox="1"/>
          <p:nvPr/>
        </p:nvSpPr>
        <p:spPr>
          <a:xfrm>
            <a:off x="10930402" y="2986025"/>
            <a:ext cx="7692600" cy="60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8890" lvl="0" marL="127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1850">
                <a:solidFill>
                  <a:srgbClr val="002060"/>
                </a:solidFill>
              </a:rPr>
              <a:t>Planteamiento del Problema:</a:t>
            </a:r>
            <a:endParaRPr sz="1850">
              <a:solidFill>
                <a:srgbClr val="002060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50">
                <a:solidFill>
                  <a:schemeClr val="dk1"/>
                </a:solidFill>
              </a:rPr>
              <a:t>Actualmente, existe una creciente dificultad para garantizar la seguridad y el bienestar de los adultos mayores que viven solos o alejados de sus familiares. La distancia física y las responsabilidades diarias de los hijos o cuidadores impiden realizar un monitoreo constante, lo que provoca incertidumbre sobre el estado de salud y la ubicación de sus seres queridos. </a:t>
            </a:r>
            <a:endParaRPr sz="185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1850">
                <a:solidFill>
                  <a:schemeClr val="dk1"/>
                </a:solidFill>
              </a:rPr>
            </a:br>
            <a:r>
              <a:rPr lang="es-ES" sz="1850">
                <a:solidFill>
                  <a:schemeClr val="dk1"/>
                </a:solidFill>
              </a:rPr>
              <a:t>Además la falta de acompañamiento permanente entre los adultos mayores y sus familiares dificultan conocer oportunamente su estado y ubicación ante situaciones de riesgo. Eventos como caídas, emergencias médicas, desorientación o descompensaciones pueden ocurrir sin que sus cuidadores puedan detectarlos o responder a tiempo.</a:t>
            </a:r>
            <a:endParaRPr sz="18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b1942838_1_72"/>
          <p:cNvSpPr txBox="1"/>
          <p:nvPr/>
        </p:nvSpPr>
        <p:spPr>
          <a:xfrm>
            <a:off x="1" y="886000"/>
            <a:ext cx="489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500"/>
              <a:t>Objetivo, Justificación y Levantamiento</a:t>
            </a:r>
            <a:endParaRPr b="1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9b1942838_1_72"/>
          <p:cNvSpPr txBox="1"/>
          <p:nvPr/>
        </p:nvSpPr>
        <p:spPr>
          <a:xfrm>
            <a:off x="1197300" y="7452750"/>
            <a:ext cx="80205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23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Levantamiento de información</a:t>
            </a:r>
            <a:r>
              <a:rPr b="1"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: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Las técnicas para el levantamiento de información son las siguientes: 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 Narrow"/>
              <a:buChar char="●"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Presentación del proyecto.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 Narrow"/>
              <a:buChar char="●"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Entrevista.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 Narrow"/>
              <a:buChar char="●"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Revisión de sistemas existente</a:t>
            </a: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s.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 Narrow"/>
              <a:buChar char="●"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Observación.</a:t>
            </a:r>
            <a:endParaRPr sz="2300">
              <a:solidFill>
                <a:schemeClr val="dk1"/>
              </a:solidFill>
              <a:highlight>
                <a:srgbClr val="FFFF00"/>
              </a:highlight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3" name="Google Shape;123;g3f9b1942838_1_72"/>
          <p:cNvSpPr txBox="1"/>
          <p:nvPr/>
        </p:nvSpPr>
        <p:spPr>
          <a:xfrm>
            <a:off x="1197300" y="2329913"/>
            <a:ext cx="78285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8890" lvl="0" marL="127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23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Objetivo General:</a:t>
            </a:r>
            <a:r>
              <a:rPr lang="es-ES" sz="23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objetivo general es diseñar, desarrollar e implementar una solución tecnológica compuesta por una aplicación móvil orientada a la seguridad y autonomía del adulto mayor. Con esto se busca prevenir y responder oportunamente ante situaciones de riesgo como caídas o desorientaciones, disminuyendo la preocupación familiar y alcanzando este resultado mediante la aplicación de competencias en desarrollo móvil, bases de datos en la nube, arquitectura de software, calidad, seguridad de sistemas y gestión de proyectos. </a:t>
            </a:r>
            <a:endParaRPr sz="23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4" name="Google Shape;124;g3f9b1942838_1_72"/>
          <p:cNvSpPr txBox="1"/>
          <p:nvPr/>
        </p:nvSpPr>
        <p:spPr>
          <a:xfrm>
            <a:off x="9722575" y="2329925"/>
            <a:ext cx="98235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23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Justificación:</a:t>
            </a:r>
            <a:r>
              <a:rPr lang="es-ES" sz="23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propósito de este proyecto es desarrollar una solución tecnológica que contribuya a mejorar la seguridad y calidad de vida de los adultos mayores que viven solos o alejados de sus familiares, fortaleciendo al mismo tiempo la comunicación con su red de apoyo.</a:t>
            </a:r>
            <a:endParaRPr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proyecto se justifica debido a que la distancia geográfica, las responsabilidades cotidianas de los familiares y el aumento de situaciones de riesgo asociadas a la vida en solitario dificultan mantener un acompañamiento permanente. Ante una caída, desorientación, emergencia médica u otra eventualidad, la falta de mecanismos de comunicación y alerta pueden retrasar la respuesta de quienes pueden prestar ayuda. </a:t>
            </a:r>
            <a:endParaRPr sz="2300">
              <a:solidFill>
                <a:schemeClr val="dk1"/>
              </a:solidFill>
              <a:highlight>
                <a:srgbClr val="FFFF00"/>
              </a:highlight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9b1942838_0_33"/>
          <p:cNvSpPr txBox="1"/>
          <p:nvPr/>
        </p:nvSpPr>
        <p:spPr>
          <a:xfrm>
            <a:off x="1" y="828300"/>
            <a:ext cx="4894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s-ES" sz="3500">
                <a:solidFill>
                  <a:schemeClr val="dk1"/>
                </a:solidFill>
              </a:rPr>
              <a:t>Objetivo, alcance y exclusiones</a:t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9b1942838_0_33"/>
          <p:cNvSpPr txBox="1"/>
          <p:nvPr/>
        </p:nvSpPr>
        <p:spPr>
          <a:xfrm>
            <a:off x="651600" y="3019625"/>
            <a:ext cx="9297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Objetivos específicos:</a:t>
            </a:r>
            <a:r>
              <a:rPr lang="es-ES" sz="20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Implementar un sistema de ubicación en tiempo real que permita a los familiares conocer la localización del adulto mayor.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Incorporar un botón de emergencia que permite enviar alertas inmediatas a familiares o cuidadores ante situaciones de riesgo.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Desarrollar un sistema de notificaciones automáticas para informar eventos importantes relacionados con la seguridad y bienestar del adulto mayor.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Permitir el registro y consulta de información médica relevante, como medicamentos, enfermedades o datos de contacto de emergencia.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1" name="Google Shape;131;g3f9b1942838_0_33"/>
          <p:cNvSpPr txBox="1"/>
          <p:nvPr/>
        </p:nvSpPr>
        <p:spPr>
          <a:xfrm>
            <a:off x="10385325" y="1185125"/>
            <a:ext cx="9297000" cy="89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Alcance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desarrollo de una aplicación móvil con un portal para los adultos mayores, el cual tendrá una interfaz simplificada y accesible para utilizar las funciones principales de asistencia.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Un portal para los cuidadores y/o encargados de los adultos mayores, el cual tendrá la visualización y gestión de alertas, eventos y estado asociado al usuario bajo su cuidado.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Asociación entre adulto mayor con familiar y/o cuidador autorizado.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Botón de SOS, el cual se podrá activar manualmente o de forma inmediata luego de algún evento que lo active.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Geolocalización en caso de emergencia y/o un evento que lo requiera.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Generación de alertas preventivas o de emergencia.</a:t>
            </a:r>
            <a:endParaRPr b="1" sz="2000">
              <a:solidFill>
                <a:srgbClr val="00206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Trabajo Futuro: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Monitoreo de signos vitales.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Implementación de reconocimiento de caídas mediante sensores del dispositivo móvil o dispositivos externos. 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Desarrollo de una versión web administrativa para instituciones, centros de cuidado y organizaciones dedicadas al apoyo del adulto mayor. 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Incorporación de inteligencia artificial para detectar patrones de comportamiento anormales y generar alertas preventivas. 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2" name="Google Shape;132;g3f9b1942838_0_33"/>
          <p:cNvSpPr txBox="1"/>
          <p:nvPr/>
        </p:nvSpPr>
        <p:spPr>
          <a:xfrm>
            <a:off x="651600" y="7594775"/>
            <a:ext cx="9297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590" rtl="0" algn="just">
              <a:lnSpc>
                <a:spcPct val="150000"/>
              </a:lnSpc>
              <a:spcBef>
                <a:spcPts val="2325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Exclusiones: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Servicios de atención médica.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Diagnóstico médico o detección de enfermedades mediante inteligencia artificial.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AutoNum type="arabicPeriod"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Reemplazo de profesionales de salud, cuidadores presenciales o servicios de emergencia.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f9b1942838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4550" y="2143125"/>
            <a:ext cx="13208372" cy="73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9b1942838_1_0"/>
          <p:cNvSpPr txBox="1"/>
          <p:nvPr/>
        </p:nvSpPr>
        <p:spPr>
          <a:xfrm>
            <a:off x="432750" y="2442600"/>
            <a:ext cx="5957700" cy="83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73763"/>
                </a:solidFill>
                <a:latin typeface="Arial Narrow"/>
                <a:ea typeface="Arial Narrow"/>
                <a:cs typeface="Arial Narrow"/>
                <a:sym typeface="Arial Narrow"/>
              </a:rPr>
              <a:t>Mapa Mental </a:t>
            </a:r>
            <a:endParaRPr b="1" sz="2000">
              <a:solidFill>
                <a:srgbClr val="073763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mapa mental del proyecto Siempre Cerca articula la problemática central a través de tres dimensiones interrelacionadas: las dificultades existentes, los impactos generado y la solución propuesta.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●"/>
            </a:pPr>
            <a:r>
              <a:rPr b="1"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Dificultades (Causas / Problemática):</a:t>
            </a: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Problemas de comunicación, distancia física con familiares, limitaciones tecnológicas, falta de acompañamiento y situaciones de riesgo .</a:t>
            </a:r>
            <a:b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●"/>
            </a:pPr>
            <a:r>
              <a:rPr b="1"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Impactos (Consecuencias):</a:t>
            </a: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Mayor vulnerabilidad ante emergencias en el adulto mayor, ansiedad y estrés en el entorno familiar.</a:t>
            </a:r>
            <a:b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●"/>
            </a:pPr>
            <a:r>
              <a:rPr b="1"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Solución Propuesta:</a:t>
            </a:r>
            <a:r>
              <a:rPr lang="es-ES" sz="20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Plataforma integral que abarca una Aplicación Móvil , Vinculación (vía Código), Tecnología, Monitoreo.</a:t>
            </a:r>
            <a:endParaRPr sz="20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39" name="Google Shape;139;g3f9b1942838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1400"/>
            <a:ext cx="7214675" cy="13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f9b1942838_1_0"/>
          <p:cNvSpPr txBox="1"/>
          <p:nvPr/>
        </p:nvSpPr>
        <p:spPr>
          <a:xfrm>
            <a:off x="126775" y="912725"/>
            <a:ext cx="63582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700"/>
              <a:t>Descubrimiento y </a:t>
            </a:r>
            <a:r>
              <a:rPr b="1" lang="es-ES" sz="3700"/>
              <a:t>Visión</a:t>
            </a:r>
            <a:r>
              <a:rPr b="1" lang="es-ES" sz="3700"/>
              <a:t> del producto</a:t>
            </a:r>
            <a:endParaRPr b="1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f9b1942838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7600" y="1325875"/>
            <a:ext cx="13906501" cy="873672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f9b1942838_0_58"/>
          <p:cNvSpPr txBox="1"/>
          <p:nvPr/>
        </p:nvSpPr>
        <p:spPr>
          <a:xfrm>
            <a:off x="227750" y="826175"/>
            <a:ext cx="4756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700"/>
              <a:t>Mapa de actores y necesidades</a:t>
            </a:r>
            <a:endParaRPr b="1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9b1942838_0_58"/>
          <p:cNvSpPr txBox="1"/>
          <p:nvPr/>
        </p:nvSpPr>
        <p:spPr>
          <a:xfrm>
            <a:off x="284400" y="3148850"/>
            <a:ext cx="6289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159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5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Necesidades de los usuarios: </a:t>
            </a:r>
            <a:endParaRPr b="1" sz="2050">
              <a:solidFill>
                <a:srgbClr val="00206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g3f9b1942838_0_58"/>
          <p:cNvSpPr txBox="1"/>
          <p:nvPr/>
        </p:nvSpPr>
        <p:spPr>
          <a:xfrm>
            <a:off x="284400" y="3620575"/>
            <a:ext cx="6101100" cy="6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Adulto mayor</a:t>
            </a:r>
            <a:endParaRPr b="1"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 Narrow"/>
              <a:buChar char="●"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Necesita seguridad, comunicación y autonomía.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 Narrow"/>
              <a:buChar char="●"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Puede enfrentar emergencias o caídas estando solo y tener dificultades para pedir ayuda.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 Narrow"/>
              <a:buChar char="●"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Se espera una aplicación simple e intuitiva, que </a:t>
            </a: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permite</a:t>
            </a: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solicitar asistencia y mantenerse conectado con su red de apoyo.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Familiar / Cuidador</a:t>
            </a:r>
            <a:endParaRPr b="1"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 Narrow"/>
              <a:buChar char="●"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Necesita monitorear y conocer el estado del adulto mayor a distancia.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 Narrow"/>
              <a:buChar char="●"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La distancia dificulta el acompañamiento presencial y puede retrasar la detección de emergencias.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 Narrow"/>
              <a:buChar char="●"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Se espera contar con ubicación, seguimiento y alertas en tiempo real, además de una vinculación rápida y segura mediante un código.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9b1942838_1_7"/>
          <p:cNvSpPr txBox="1"/>
          <p:nvPr/>
        </p:nvSpPr>
        <p:spPr>
          <a:xfrm>
            <a:off x="0" y="663675"/>
            <a:ext cx="50055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600"/>
              <a:t>Impact Mapping</a:t>
            </a:r>
            <a:endParaRPr b="1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4" name="Google Shape;154;g3f9b1942838_1_7"/>
          <p:cNvGraphicFramePr/>
          <p:nvPr/>
        </p:nvGraphicFramePr>
        <p:xfrm>
          <a:off x="2347650" y="240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{C969BFC7-164E-4123-A3A3-254015DF707C}</a:tableStyleId>
              </a:tblPr>
              <a:tblGrid>
                <a:gridCol w="4181275"/>
                <a:gridCol w="5936375"/>
                <a:gridCol w="5291125"/>
              </a:tblGrid>
              <a:tr h="425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Actor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Impacto deseado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Entregable Asociado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>
                    <a:solidFill>
                      <a:srgbClr val="93C47D"/>
                    </a:solidFill>
                  </a:tcPr>
                </a:tc>
              </a:tr>
              <a:tr h="129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Adulto mayor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Contar con una herramienta accesible que facilite su vinculación con familiares y cuidadores y permita solicitar apoyo cuando sea necesario.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Aplicación móvil, interfaz accesible, sistema de autenticación y perfil de usuario.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</a:tr>
              <a:tr h="1315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Familiar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Mejorar la capacidad de respuesta ante situaciones que puedan representar un riesgo para el adulto mayor. 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Sistema de alertas y emergencias, notificaciones y mecanismos de comunicación. 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</a:tr>
              <a:tr h="129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Cuidador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Obtener mayor información sobre la situación y ubicación del adulto mayor bajo su cuidado, facilitando el acompañamiento a distancia.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Portal/funcionalidades de cuidador, vinculación mediante Código, visualización de ubicación y sistema de monitoreo.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</a:tr>
              <a:tr h="100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Equipo del proyecto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Disponer de una solución funcional, documentada y validada de acuerdo con los objetivos establecidos.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Documentación del proyecto, prototipos, aplicación móvil funcional, base de datos y pruebas de calidad y seguridad.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b1942838_0_54"/>
          <p:cNvSpPr txBox="1"/>
          <p:nvPr/>
        </p:nvSpPr>
        <p:spPr>
          <a:xfrm>
            <a:off x="952500" y="2246950"/>
            <a:ext cx="10894200" cy="4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05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Product Goal</a:t>
            </a:r>
            <a:br>
              <a:rPr b="1" lang="es-ES" sz="2050">
                <a:solidFill>
                  <a:srgbClr val="4F81BD"/>
                </a:solidFill>
                <a:highlight>
                  <a:srgbClr val="FFFF00"/>
                </a:highlight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objetivo del producto Siempre Cerca es desarrollar una aplicación móvil intuitiva, accesible y segura que permita fortalecer el acompañamiento y la seguridad de los adultos mayores que viven solos o se encuentran alejados de sus familiares, facilitando la comunicación y el monitoreo a distancia por parte de sus familiares y cuidadores.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La</a:t>
            </a: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solución busca proporcionar un medio tecnológico que permita conocer de manera oportuna la ubicación del adulto mayor y así poder responder ante situaciones que puedan representar un riesgo para su bienestar. El producto no busca reemplazar el cuidado humano, sino complementarlo mediante una herramienta tecnológica.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g3f9b1942838_0_54"/>
          <p:cNvSpPr txBox="1"/>
          <p:nvPr/>
        </p:nvSpPr>
        <p:spPr>
          <a:xfrm>
            <a:off x="952500" y="6760525"/>
            <a:ext cx="10894200" cy="3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50">
                <a:solidFill>
                  <a:srgbClr val="002060"/>
                </a:solidFill>
                <a:latin typeface="Arial Narrow"/>
                <a:ea typeface="Arial Narrow"/>
                <a:cs typeface="Arial Narrow"/>
                <a:sym typeface="Arial Narrow"/>
              </a:rPr>
              <a:t>Delimitación del alcance</a:t>
            </a:r>
            <a:endParaRPr b="1" sz="2050">
              <a:solidFill>
                <a:srgbClr val="00206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 partir del Impact Mapping, el alcance de Siempre Cerca se concentra en desarrollar una solución móvil orientada al acompañamiento y seguridad de adultos mayores, considerando principalmente la interacción entre el adulto mayor y su cuidador o familiar.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proyecto contempla la construcción de la aplicación, sus componentes de soporte y las funcionalidades implementadas se encuentran el acceso mediante autenticación, la creación de cuentas, la diferenciación entre los roles de adultos mayor y cuidador, la vinculación del adulto mayor mediante código y la visualización de su ubicación mediante GPS.</a:t>
            </a:r>
            <a:endParaRPr sz="205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g3f9b1942838_0_54"/>
          <p:cNvSpPr txBox="1"/>
          <p:nvPr/>
        </p:nvSpPr>
        <p:spPr>
          <a:xfrm>
            <a:off x="-259650" y="663675"/>
            <a:ext cx="54528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700"/>
              <a:t>Product Goal y Delimitación</a:t>
            </a:r>
            <a:endParaRPr b="1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f9b1942838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9500" y="152400"/>
            <a:ext cx="7161050" cy="1004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b1942838_1_61"/>
          <p:cNvSpPr txBox="1"/>
          <p:nvPr/>
        </p:nvSpPr>
        <p:spPr>
          <a:xfrm>
            <a:off x="1143677" y="2377175"/>
            <a:ext cx="10996200" cy="2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VISIÓN</a:t>
            </a:r>
            <a:endParaRPr b="1"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Siempre Cerca busca convertirse en una solución tecnológica de apoyo para adultos mayores, familiares y cuidadores, facilitando el acompañamiento a distancia mediante una aplicación móvil accesible y orientada a la seguridad. La visión del proyecto es utilizar la tecnología como un complemento al cuidado humano, permitiendo fortalecer la comunicación, facilitar el monitoreo y favorecer una respuesta oportuna ante situaciones de riesgo.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8" name="Google Shape;168;g3f9b1942838_1_61"/>
          <p:cNvSpPr txBox="1"/>
          <p:nvPr/>
        </p:nvSpPr>
        <p:spPr>
          <a:xfrm>
            <a:off x="6687077" y="5012875"/>
            <a:ext cx="5452800" cy="4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Pilar 3: Impacto organizacional</a:t>
            </a:r>
            <a:endParaRPr b="1"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proyecto busca generar un impacto positivo en los familiares y cuidadores.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Pilar 4: Sostenibilidad del desarrollo</a:t>
            </a:r>
            <a:endParaRPr b="1" sz="2050">
              <a:solidFill>
                <a:schemeClr val="dk1"/>
              </a:solidFill>
              <a:highlight>
                <a:srgbClr val="FFFF00"/>
              </a:highlight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La sostenibilidad del proyecto se relaciona con la utilización de tecnologías y servicios que permitan mantener y ampliar la solución de manera progresiva. 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endParaRPr sz="2050">
              <a:solidFill>
                <a:srgbClr val="26262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9" name="Google Shape;169;g3f9b1942838_1_61"/>
          <p:cNvSpPr txBox="1"/>
          <p:nvPr/>
        </p:nvSpPr>
        <p:spPr>
          <a:xfrm>
            <a:off x="1143677" y="5012875"/>
            <a:ext cx="5327400" cy="4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Pilar 1: Valor para el cliente</a:t>
            </a:r>
            <a:endParaRPr b="1"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principal valor consiste en una herramienta que permita a los familiares y cuidadores </a:t>
            </a: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cercanía</a:t>
            </a: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especialmente cuando no puede acompañarlo.</a:t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Pilar 2: Factibilidad técnica </a:t>
            </a:r>
            <a:endParaRPr b="1" sz="2050">
              <a:solidFill>
                <a:schemeClr val="dk1"/>
              </a:solidFill>
              <a:highlight>
                <a:srgbClr val="FFFF00"/>
              </a:highlight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5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proyecto se desarrolla utilizando tecnologías disponibles y adecuadas para la construcción de una aplicación móvil. </a:t>
            </a:r>
            <a:endParaRPr sz="2050">
              <a:solidFill>
                <a:srgbClr val="26262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0" name="Google Shape;170;g3f9b1942838_1_61"/>
          <p:cNvSpPr txBox="1"/>
          <p:nvPr/>
        </p:nvSpPr>
        <p:spPr>
          <a:xfrm>
            <a:off x="-259650" y="663675"/>
            <a:ext cx="54528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400"/>
              <a:t>Visión y Cuatro Pilares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f9b1942838_1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4350" y="663675"/>
            <a:ext cx="6693399" cy="903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c6830244_0_0"/>
          <p:cNvSpPr txBox="1"/>
          <p:nvPr/>
        </p:nvSpPr>
        <p:spPr>
          <a:xfrm>
            <a:off x="0" y="663675"/>
            <a:ext cx="50055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600"/>
              <a:t>Entregables</a:t>
            </a:r>
            <a:endParaRPr b="1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7" name="Google Shape;177;g3f9c6830244_0_0"/>
          <p:cNvGraphicFramePr/>
          <p:nvPr/>
        </p:nvGraphicFramePr>
        <p:xfrm>
          <a:off x="1401275" y="25343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{AE69C14F-57D4-4832-9149-102BA9918FF5}</a:tableStyleId>
              </a:tblPr>
              <a:tblGrid>
                <a:gridCol w="1226025"/>
                <a:gridCol w="3418150"/>
                <a:gridCol w="6208625"/>
                <a:gridCol w="6448750"/>
              </a:tblGrid>
              <a:tr h="3701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N.º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Entregable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Descripción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Criterio de aceptación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  <a:tr h="8231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5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Documentos de análisis y requerimientos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Documento que consolida las necesidades y requerimientos identificados para la solución.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Los requerimientos se encuentran documentados, organizados y relacionados con las necesidades identificadas por los usuarios.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  <a:tr h="797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Diseño de arquitectura del sistema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Definición de la estructura tecnológica de la solución y de la relación entre sus principales componentes.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La arquitectura representa de forma clara los componentes principales y su comunicación.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  <a:tr h="797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Prototipos de interfaz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Diseños y mockups de las principales interfaces de la aplicación desarrollados durante la etapa de diseño.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Los prototipos representan las principales pantallas y flujos definidos para los usuarios de la solución.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  <a:tr h="7493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Aplicación móvil funcional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Aplicación móvil Siempre Cerca que implementa las funcionalidades priorizadas del proyecto.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Las funcionalidades priorizadas se encuentran implementadas y pueden ser ejecutadas y demostradas correctamente.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  <a:tr h="1047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5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Base de datos implementada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Estructura de almacenamiento necesaria para gestionar la información de usuarios y datos asociados a la solución.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La base de datos permite almacenar y consultar correctamente la información requerida por la aplicación.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  <a:tr h="8334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Pruebas funcionales y no funcionales.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Ejecución y documentación de pruebas destinadas a verificar el funcionamiento de las pruebas funcionalidades y no funcionales.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Las funcionalidades principales han sido sometidas a pruebas y los errores críticos identificados han sido corregidos.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  <a:tr h="10228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b="1"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Documentación final del proyecto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Conjunto de documentos que registran el desarrollo, decisiones, resultados y antecedentes relevantes del proyecto.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50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La documentación solicitada se encuentra completa, organizada y coherente con la solución desarrollada.</a:t>
                      </a:r>
                      <a:endParaRPr sz="205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c6830244_0_8"/>
          <p:cNvSpPr txBox="1"/>
          <p:nvPr/>
        </p:nvSpPr>
        <p:spPr>
          <a:xfrm>
            <a:off x="0" y="577125"/>
            <a:ext cx="50055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ES" sz="3700"/>
              <a:t>Carta Gantt</a:t>
            </a:r>
            <a:endParaRPr b="1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f9c6830244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1975" y="2129450"/>
            <a:ext cx="8249417" cy="8969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" name="Google Shape;184;g3f9c6830244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175" y="2165088"/>
            <a:ext cx="7915462" cy="8897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>
            <p:ph idx="2" type="body"/>
          </p:nvPr>
        </p:nvSpPr>
        <p:spPr>
          <a:xfrm>
            <a:off x="4205547" y="4313971"/>
            <a:ext cx="1252489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¿Preguntas / Dudas?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6221825" y="6288275"/>
            <a:ext cx="804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MUCHAS GRACIAS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2021-04-02T01:36:00Z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Creator">
    <vt:lpwstr>Adobe Illustrator 25.2 (Macintosh)</vt:lpwstr>
  </property>
  <property fmtid="{D5CDD505-2E9C-101B-9397-08002B2CF9AE}" pid="4" name="LastSaved">
    <vt:filetime>2021-04-02T00:00:00Z</vt:filetime>
  </property>
  <property fmtid="{D5CDD505-2E9C-101B-9397-08002B2CF9AE}" pid="5" name="ContentTypeId">
    <vt:lpwstr>0x0101004E9A3AE23414AD41A4F4D6368514CED2</vt:lpwstr>
  </property>
</Properties>
</file>